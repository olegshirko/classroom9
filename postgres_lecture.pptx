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2801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PostgreSQL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0292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данных · DDL · DML · Индексы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7640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часа · PostgreSQL + PyCharm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занятия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33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904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00:00–00:15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73152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033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9472" y="1280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Утилиты psql/dump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4904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00:15–00:30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745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74520"/>
            <a:ext cx="7315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данных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2404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00:30–00:50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8745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74520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9472" y="2404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00:50–01:15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7889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788920"/>
            <a:ext cx="7315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862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и запросы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" y="3319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01:15–02:10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7889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88920"/>
            <a:ext cx="7315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862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Самост. задачи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19472" y="3319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02:10–02:30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7033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703320"/>
            <a:ext cx="73152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776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" y="4023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Индексы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8912" y="4233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02:30–02:50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Реляционная модель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данные одной сущности (товары, заказы)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Столбец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 с фиксированным типом данных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запись; порядок строк не гарантирован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93192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через внешний ключ, не дублируем данные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05840"/>
          <a:ext cx="4023360" cy="155448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1280160"/>
                <a:gridCol w="82296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Ноутбук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Футболка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Хлеб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84632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063240"/>
          <a:ext cx="2286000" cy="13716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Электроника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Одежда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Продукты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484632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852160" y="2578608"/>
            <a:ext cx="548640" cy="45720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23" name="Text 19"/>
          <p:cNvSpPr/>
          <p:nvPr/>
        </p:nvSpPr>
        <p:spPr>
          <a:xfrm>
            <a:off x="626364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PostgreSQL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1E3A5F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9144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43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14264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Запущенный инстанс, порт 5432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011680"/>
            <a:ext cx="7132320" cy="658368"/>
          </a:xfrm>
          <a:prstGeom prst="rect">
            <a:avLst/>
          </a:prstGeom>
          <a:solidFill>
            <a:srgbClr val="1E3A5F">
              <a:alpha val="8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011680"/>
            <a:ext cx="91440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057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7008" y="23408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shop, test — изолированы друг от друга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2926080"/>
            <a:ext cx="5852160" cy="658368"/>
          </a:xfrm>
          <a:prstGeom prst="rect">
            <a:avLst/>
          </a:prstGeom>
          <a:solidFill>
            <a:srgbClr val="1E3A5F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926080"/>
            <a:ext cx="9144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7088" y="2971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47088" y="32552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пространство имён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3840480"/>
            <a:ext cx="4572000" cy="658368"/>
          </a:xfrm>
          <a:prstGeom prst="rect">
            <a:avLst/>
          </a:prstGeom>
          <a:solidFill>
            <a:srgbClr val="1E3A5F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3840480"/>
            <a:ext cx="914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3886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87168" y="41696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orders, categories…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Утилиты: psql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Терминальный клиент — работает везде, даже без GUI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 -h localhost -p 5432 -U postgres -d shop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1945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9659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всех баз в кластере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21945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054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\c shop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53288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Переключиться на базу shop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21945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723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09981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таблиц текущей схемы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75304"/>
            <a:ext cx="21945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393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\d products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6667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таблицы (столбцы, индексы, FK)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42232"/>
            <a:ext cx="21945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\q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423367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Выйти из psql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pg_dump и pg_restore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опасной операцией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Миграция схемы, обновление данных — всегда делаем дамп первым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9202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базы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05840" y="22677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машина → сервер, между серверами, коллеге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8346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на реальных данных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05840" y="31821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Дамп продакшн-базы → локально → отладка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57200" y="3749040"/>
            <a:ext cx="82296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94360" y="38404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Plain 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pg_dump -U postgres -d shop &gt; shop.sql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(binary, сжатый, быстрее)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pg_dump -U postgres -d shop -Fc -f shop.dump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Восстановление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pg_restore -U postgres -d shop_new -Fc shop.dump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данных: числа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92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969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байта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9692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−32 768 … 32 767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298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Редко. Только если точно знаем что значения маленькие.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19072"/>
            <a:ext cx="7315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739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1773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байта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1773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 млрд … 2 млрд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103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 для любых целых чисел.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23744"/>
            <a:ext cx="7315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77440" y="2578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байт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±9 × 10¹⁸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907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Логи, события — таблицы с миллиардами строк.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28416"/>
            <a:ext cx="7315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83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7744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43400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десятичный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712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Деньги. Никогда не FLOAT для финансов!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33088"/>
            <a:ext cx="7315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879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377440" y="41879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INTEGER + sequence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43400" y="4187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автоинкремент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5171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Первичные ключи. BIGSERIAL для больших таблиц.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данных: строки и дата/время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44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ограничения длины — имена, описания, комментарии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002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по бизнес-требованию — номер телефона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60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16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Фиксированная длина — код валюты 'RUB'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420624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832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Миф: </a:t>
            </a:r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быстрее TEXT. Неправда — в PostgreSQL оба типа хранятся одинаково.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и время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298448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1344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1600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дата — 2024-01-15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95681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2002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2258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+ время, без таймзоны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615184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28032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TIMESTAMPTZ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28032" y="2916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+ время + таймзона → рекомендуется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273552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28032" y="3319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28032" y="35753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/ NULL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93192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28032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42336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128-бит уникальный ID для публичных API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4 · DDL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и ограничения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1206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products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  SERIAL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      TEXT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      NUMERIC(10,2)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category_id INTEGER NOT NULL REFERENCES categories(id),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in_stock    BOOLEAN DEFAULT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created_at  TIMESTAMPTZ DEFAULT now()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97880" y="960120"/>
            <a:ext cx="2834640" cy="6858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97880" y="96012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0760" y="1280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ID строки. Автоматически создаёт индекс.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1764792"/>
            <a:ext cx="2834640" cy="6858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1764792"/>
            <a:ext cx="7315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0848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Обязательное поле. БД выбросит ошибку при попытке оставить пустым.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2569464"/>
            <a:ext cx="2834640" cy="6858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2569464"/>
            <a:ext cx="7315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6151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28895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по умолчанию. now() — функция, вызывается при вставке.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7880" y="3374136"/>
            <a:ext cx="2834640" cy="6858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3374136"/>
            <a:ext cx="73152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419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36941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ключ. Ссылочная целостность — нельзя вставить несуществующий ID.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4178808"/>
            <a:ext cx="2834640" cy="68580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4178808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4224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44988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должно быть уникальным по всей таблице.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4 · DDL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TABLE, DROP TABLE, TRUNCATE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Добавить / удалить столбец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products ADD COLUMN weight NUMERIC(8,2);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products DROP COLUMN weight;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Добавить ограничение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CONSTRAINT chk_price_positive CHECK (price &gt; 0);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Удалить таблицу полностью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IF EXISTS temp_orders;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Очистить таблицу (быстрее DELETE, без условий)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 TABLE logs RESTART IDENTITY;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блокирует таблицу — на продакшене делать с осторожностью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TABLE удаляет структуру и данные безвозвратно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= мгновенная очистка, нельзя откатить (вне транзакции)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EXISTS / IF NOT EXISTS — безопасный стиль, не падает при повторном запуске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DML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добавляем данные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Одна строка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categories (name, slug)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('Электроника', 'electronics');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Несколько строк за один запрос (эффективнее)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categories (name, slug)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('Электроника', 'electronics'),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('Одежда',      'clothing'),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('Продукты',    'food');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не указываем — SERIAL проставит автоматически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не указываем — сработает DEFAULT now()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Порядок: сначала таблицы без FK, потом зависимые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делаем разнообразными — разные цены и категории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DML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ORDER BY, LIMIT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price FROM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BETWEEN 1000 AND 5000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in_stock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price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 OFFSET 0;   -- OFFSET для пагинации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114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!=  &gt;  &lt;  &gt;=  &lt;=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788920"/>
            <a:ext cx="4114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OR  NOT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02152"/>
            <a:ext cx="4114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x AND 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502152"/>
            <a:ext cx="4114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9472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Вхождение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(1, 2, 3)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15384"/>
            <a:ext cx="4114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" y="4261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4517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 '%текст%'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4215384"/>
            <a:ext cx="4114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9472" y="4261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Пустота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4517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NULL / IS NOT NULL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DML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— трёхзначная логика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IS NULL / IS NOT NULL — единственный правильный способ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 WHERE category_id IS NULL;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 WHERE name IS NOT NULL;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Опасно: = NULL никогда не вернёт строк!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 WHERE category_id = NULL;   -- пустой результат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COALESCE: подставить значение по умолчанию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COALESCE(description, 'Нет описания') FROM products;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≠ 0, NULL ≠ '', NULL ≠ FALSE — это отсутствие значения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сравнение с NULL даёт NULL (не TRUE, не FALSE)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считает NULL-строки, COUNT(column) — пропускает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COALESCE(a, b, c) — первое не-NULL значение из списка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FIRST / NULLS LAST в ORDER BY для явного контроля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DML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Агрегаты, GROUP BY, HAVING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0292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category_id,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   AS cnt,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AVG(price)  AS avg_price,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MAX(price)  AS max_price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avg_price DESC;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960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выполнения: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3017520" cy="34747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828800"/>
            <a:ext cx="3017520" cy="34747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WHERE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2286000"/>
            <a:ext cx="3017520" cy="34747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GROUP BY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2743200"/>
            <a:ext cx="3017520" cy="34747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788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HAVING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3200400"/>
            <a:ext cx="3017520" cy="34747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0" y="3657600"/>
            <a:ext cx="3017520" cy="34747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ORDER BY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4114800"/>
            <a:ext cx="3017520" cy="34747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LIMIT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5029200" cy="685800"/>
          </a:xfrm>
          <a:prstGeom prst="rect">
            <a:avLst/>
          </a:prstGeom>
          <a:solidFill>
            <a:srgbClr val="1E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7472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фильтрует строки ДО группировки
</a:t>
            </a:r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фильтрует группы ПОСЛЕ группировки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DML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o.id            AS order_id,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cu.name         AS customer_name,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p.name          AS product_name,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oi.quantity,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oi.quantity * p.price AS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customers  cu ON o.customer_id  = cu.id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order_items oi ON oi.order_id   = o.id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products   p  ON oi.product_id  = p.id;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80760" y="106984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960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cu, oi — псевдонимы таблиц, делают код читаемым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98424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74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Читать с FROM, каждый JOIN добавляет таблицу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89864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только строки с совпадением в обеих таблицах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81304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703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JOIN, RIGHT JOIN — на следующем занятии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DML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и DELETE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Сначала проверяем что выбираем нужные строки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 WHERE id = 1;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Только потом обновляем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price = 45000, in_stock =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1;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 без WHERE — очистит всю таблицу!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products WHERE id = 1;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solidFill>
            <a:srgbClr val="450A0A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611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56616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DELETE без WHERE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затронет ВСЕ строки таблицы. PostgreSQL выводит количество: DELETE 47 вместо ожидаемого DELETE 1 — сигнал что что-то пошло не так.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DML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Подзапросы — Subqueries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IN: товары из категории 'Электроника'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category_id IN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id FROM categories WHERE name = 'Электроника'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EXISTS: покупатели с хотя бы одним заказом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customers 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EXISTS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1 FROM orders o WHERE o.customer_id = c.id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Скалярный подзапрос: средняя цена как колонка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price,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(SELECT AVG(price) FROM products) AS avg_all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удобен для небольших списков; на больших — JOIN часто быстрее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лучше IN, когда проверяем наличие связанных строк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Скалярный подзапрос должен вернуть ровно одно значение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(WITH) — более читаемая альтернатива вложенным подзапросам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DML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 — сохранённые запросы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955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Создаём представление для частого запроса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order_summary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o.id AS order_id,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c.name AS customer_name,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SUM(oi.quantity * p.price) AS total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customers  c ON o.customer_id = c.id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order_items oi ON oi.order_id = o.id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products   p  ON oi.product_id = p.id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o.id, c.name;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Используем как обычную таблицу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order_summary WHERE total &gt; 10000;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не хранит данные — это сохранённый SELECT, выполняется каждый раз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Упрощает сложные запросы: бизнес-логику пишем один раз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давать доступ к VIEW, но не к базовым таблицам — безопасность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 — кэширует результат, требует REFRESH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5 · DML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 и ACID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93776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Транзакция: всё или ничего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 balance = balance - 100 WHERE id =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 balance = balance + 100 WHERE id = 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   -- фиксируем изменения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Если что-то пошло не так: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ROLLBACK; -- откатываем все изменения внутри транзакции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960120"/>
            <a:ext cx="3200400" cy="749808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005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307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Атомарность — все операции выполняются или ни одна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828800"/>
            <a:ext cx="3200400" cy="749808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874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Согласованность — база остаётся в валидном состоянии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2697480"/>
            <a:ext cx="3200400" cy="749808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3044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— параллельные транзакции не мешают друг другу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3566160"/>
            <a:ext cx="3200400" cy="749808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611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913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Долговечность — COMMIT сохранён даже при сбое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937760" cy="822960"/>
          </a:xfrm>
          <a:prstGeom prst="rect">
            <a:avLst/>
          </a:prstGeom>
          <a:solidFill>
            <a:srgbClr val="1E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9300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изоляции: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 (по умолчанию), Repeatable Read, Serializable. Высокий уровень = меньше аномалий, но ниже производительность.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Самостоятельные задачи — 20 мин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73152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051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3624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выборка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" y="174650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 в наличии, отсортировать по цене по убыванию, первые 3.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9560" y="1051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0328" y="136245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Агрегаты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174650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и средняя цена по категориям. Только категории где &gt; 1 товара.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73152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971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32826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" y="366674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Заказы: имя покупателя, дата, итоговая сумма. Сортировать по сумме.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8803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880360"/>
            <a:ext cx="73152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2971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0328" y="32826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быстрых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10328" y="366674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Покупатели с &gt; 1 заказом и суммой &gt; 10 000 ₽. COUNT(DISTINCT o.id).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7 · ИНДЕКСЫ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Индексы — как это работает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Книга без оглавления — читаем с первой страницы. Это Seq Scan. Индекс = оглавление: Binary Search, O(log n) вместо O(n).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индекс НЕ помогает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Маленькая таблица — Seq Scan быстрее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селективность: WHERE in_stock=TRUE если 90% в наличии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'%текст%' — ведущий % блокирует B-tree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INSERT/UPDATE — индекс замедляет запись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0584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Создать индекс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idx_products_category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products(category_id);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Уникальный индекс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UNIQUE INDEX idx_categories_slug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categories(slug);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Проверить план до/после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ANALYZE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category_id = 1;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4069080"/>
            <a:ext cx="4114800" cy="777240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4114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Scan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читает всю таблицу
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Scan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находит строки по дереву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7 · ИНДЕКСЫ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Продвинутые индексы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89611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Составной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idx_name ON products(category_id, price);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Два+ столбца. Порядок важен: сначала равенство, потом диапазон.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9611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Частичный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idx_active ON users(email) WHERE is_active = TRUE;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Индексируем только подмножество. Меньше размер, выше скорость.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89611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Покрывающий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idx_cov ON products(category_id) INCLUDE (name, price);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4930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+ доп. поля. Index Only Scan — читаем только индекс, не таблицу.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896112"/>
          </a:xfrm>
          <a:prstGeom prst="rect">
            <a:avLst/>
          </a:prstGeom>
          <a:solidFill>
            <a:srgbClr val="1E3A5F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2519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UNIQUE INDEX idx_slug ON categories(slug);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4988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Гарантирует уникальность + ускоряет поиск одновременно.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E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22452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начинайте с простого индекса на одном столбце, замеряйте EXPLAIN ANALYZE, затем добавляйте составные/покрывающие при необходимости.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таблицу reviews: product_id, customer_id, rating (1–5), text, created_at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Заполнить минимум 10 отзывами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27685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средний рейтинг каждого товара, сортировка по убыванию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93522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товары со средним рейтингом &lt; 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5935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покупатель с наибольшим количеством отзывов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25196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индекс на product_id в reviews, проверить через EXPLAIN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2801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0292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обсуждение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30175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Реляционная модель: таблицы, строки, связи через FK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Типы данных: числа, строки, дата/время — выбираем осознанно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DDL: CREATE, ALTER, DROP — структура базы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DML: INSERT, SELECT, UPDATE, DELETE — работа с данными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JOIN, GROUP BY, подзапросы — сложные выборки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Индексы — ускоряем чтение, следим за планом запросов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7640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Documentation: postgresql.org/docs  ·  Практикуйтесь на реальных задачах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PostgreSQL</dc:title>
  <dc:subject>PptxGenJS Presentation</dc:subject>
  <dc:creator>PptxGenJS</dc:creator>
  <cp:lastModifiedBy>PptxGenJS</cp:lastModifiedBy>
  <cp:revision>1</cp:revision>
  <dcterms:created xsi:type="dcterms:W3CDTF">2026-05-16T08:22:45Z</dcterms:created>
  <dcterms:modified xsi:type="dcterms:W3CDTF">2026-05-16T08:22:45Z</dcterms:modified>
</cp:coreProperties>
</file>